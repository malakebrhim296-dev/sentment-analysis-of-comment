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7" r:id="rId3"/>
    <p:sldId id="258" r:id="rId4"/>
    <p:sldId id="261" r:id="rId5"/>
    <p:sldId id="264" r:id="rId6"/>
    <p:sldId id="265" r:id="rId7"/>
    <p:sldId id="269" r:id="rId8"/>
    <p:sldId id="272" r:id="rId9"/>
    <p:sldId id="274" r:id="rId10"/>
    <p:sldId id="275" r:id="rId11"/>
    <p:sldId id="277" r:id="rId12"/>
    <p:sldId id="278" r:id="rId13"/>
    <p:sldId id="276" r:id="rId14"/>
    <p:sldId id="279" r:id="rId15"/>
    <p:sldId id="280" r:id="rId16"/>
    <p:sldId id="281" r:id="rId17"/>
    <p:sldId id="284" r:id="rId18"/>
    <p:sldId id="287" r:id="rId19"/>
    <p:sldId id="285" r:id="rId20"/>
    <p:sldId id="289" r:id="rId21"/>
    <p:sldId id="288" r:id="rId22"/>
    <p:sldId id="290" r:id="rId23"/>
    <p:sldId id="291" r:id="rId24"/>
    <p:sldId id="267" r:id="rId25"/>
    <p:sldId id="270" r:id="rId26"/>
    <p:sldId id="29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ak ebrhim" initials="me" lastIdx="1" clrIdx="0">
    <p:extLst>
      <p:ext uri="{19B8F6BF-5375-455C-9EA6-DF929625EA0E}">
        <p15:presenceInfo xmlns:p15="http://schemas.microsoft.com/office/powerpoint/2012/main" userId="0f826f3d22dba4c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90" autoAdjust="0"/>
  </p:normalViewPr>
  <p:slideViewPr>
    <p:cSldViewPr snapToGrid="0">
      <p:cViewPr varScale="1">
        <p:scale>
          <a:sx n="81" d="100"/>
          <a:sy n="81" d="100"/>
        </p:scale>
        <p:origin x="744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09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639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377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949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448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35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354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79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943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980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30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222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791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172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728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149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9717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932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67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4D30-38FC-10E3-5613-8E81E7B03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5741" y="191773"/>
            <a:ext cx="9830344" cy="2987449"/>
          </a:xfrm>
        </p:spPr>
        <p:txBody>
          <a:bodyPr/>
          <a:lstStyle/>
          <a:p>
            <a:r>
              <a:rPr lang="en-US" u="sng" dirty="0" err="1">
                <a:latin typeface="Aptos Display" panose="020B0004020202020204" pitchFamily="34" charset="0"/>
              </a:rPr>
              <a:t>Sentment</a:t>
            </a:r>
            <a:r>
              <a:rPr lang="en-US" u="sng" dirty="0">
                <a:latin typeface="Aptos Display" panose="020B0004020202020204" pitchFamily="34" charset="0"/>
              </a:rPr>
              <a:t> analysis of comment</a:t>
            </a:r>
            <a:endParaRPr lang="ar-EG" u="sng" dirty="0">
              <a:latin typeface="Aptos Display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72052D-2022-9DF6-DE4B-D4E82551E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2348" y="4795738"/>
            <a:ext cx="8791575" cy="1712067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Aptos Narrow" panose="020B0004020202020204" pitchFamily="34" charset="0"/>
              </a:rPr>
              <a:t>Dr: Mohamed </a:t>
            </a:r>
            <a:r>
              <a:rPr lang="en-US" sz="2800" dirty="0" err="1">
                <a:latin typeface="Aptos Narrow" panose="020B0004020202020204" pitchFamily="34" charset="0"/>
              </a:rPr>
              <a:t>mandouh</a:t>
            </a:r>
            <a:endParaRPr lang="ar-EG" sz="28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937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74A9-F431-E9FB-390E-A25CBB65D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477" y="697583"/>
            <a:ext cx="9905998" cy="1478570"/>
          </a:xfrm>
        </p:spPr>
        <p:txBody>
          <a:bodyPr>
            <a:normAutofit/>
          </a:bodyPr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endParaRPr lang="ar-EG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135C6-B03F-E37B-4CA7-EA2896F6B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163" y="2833337"/>
            <a:ext cx="9905999" cy="4092947"/>
          </a:xfrm>
        </p:spPr>
        <p:txBody>
          <a:bodyPr>
            <a:normAutofit/>
          </a:bodyPr>
          <a:lstStyle/>
          <a:p>
            <a:pPr algn="l" rtl="0"/>
            <a:r>
              <a:rPr lang="en-US" sz="3200" dirty="0" err="1"/>
              <a:t>Sentment</a:t>
            </a:r>
            <a:r>
              <a:rPr lang="en-US" sz="3200" dirty="0"/>
              <a:t> analysis is a machine learning techniques </a:t>
            </a:r>
          </a:p>
          <a:p>
            <a:pPr algn="l" rtl="0"/>
            <a:r>
              <a:rPr lang="en-US" sz="3200" dirty="0"/>
              <a:t>It classifies text into (Positive , Negative , Netural)</a:t>
            </a:r>
          </a:p>
          <a:p>
            <a:pPr algn="l" rtl="0"/>
            <a:endParaRPr lang="ar-EG" sz="3200" dirty="0"/>
          </a:p>
        </p:txBody>
      </p:sp>
    </p:spTree>
    <p:extLst>
      <p:ext uri="{BB962C8B-B14F-4D97-AF65-F5344CB8AC3E}">
        <p14:creationId xmlns:p14="http://schemas.microsoft.com/office/powerpoint/2010/main" val="2326119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5BC51-2A5C-8333-EFC4-ADA7E22CF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088" y="2526815"/>
            <a:ext cx="4351025" cy="2283824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Problem statement</a:t>
            </a:r>
            <a:endParaRPr lang="ar-EG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0A027-FD9B-6DBF-50B0-501667C47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22969" y="952107"/>
            <a:ext cx="4213781" cy="4581427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chemeClr val="accent6">
                    <a:lumMod val="50000"/>
                  </a:schemeClr>
                </a:solidFill>
              </a:rPr>
              <a:t>Why is Sentiment Analysis important?</a:t>
            </a:r>
          </a:p>
          <a:p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Manual analysis is slow and inefficient.</a:t>
            </a:r>
          </a:p>
          <a:p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Automatic sentiment analysis helps companies:</a:t>
            </a:r>
          </a:p>
          <a:p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Improve customer satisfaction</a:t>
            </a:r>
          </a:p>
          <a:p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Detect problems quickly</a:t>
            </a:r>
          </a:p>
          <a:p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Make better business decisions</a:t>
            </a:r>
            <a:endParaRPr lang="ar-EG" sz="1800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246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AE59-9635-BD17-E676-316A00E16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rtl="0">
              <a:buFont typeface="Arial" panose="020B0604020202020204" pitchFamily="34" charset="0"/>
              <a:buChar char="•"/>
            </a:pPr>
            <a:r>
              <a:rPr lang="en-US" b="1" i="1" dirty="0">
                <a:latin typeface="Arial Black" panose="020B0A04020102020204" pitchFamily="34" charset="0"/>
              </a:rPr>
              <a:t>Dataset  </a:t>
            </a:r>
            <a:endParaRPr lang="ar-EG" dirty="0"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9A72D2-421F-AB7D-4DB1-C6D14B0C1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999" y="2495469"/>
            <a:ext cx="7937368" cy="382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61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71A33-9509-2D8E-633E-63336E132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13" y="1275736"/>
            <a:ext cx="2793158" cy="1600200"/>
          </a:xfrm>
        </p:spPr>
        <p:txBody>
          <a:bodyPr/>
          <a:lstStyle/>
          <a:p>
            <a:r>
              <a:rPr lang="en-US" b="1" i="1" dirty="0">
                <a:latin typeface="Arial Black" panose="020B0A04020102020204" pitchFamily="34" charset="0"/>
              </a:rPr>
              <a:t>Data Preprocessing:</a:t>
            </a:r>
            <a:endParaRPr lang="ar-E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32418BC-5E7E-03EE-02F6-EEBFB1B853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2437" y="914400"/>
            <a:ext cx="6508957" cy="559947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1DF21-447A-9955-6547-8EAF44FFA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US" b="1" dirty="0"/>
              <a:t>Convert text to lowercase</a:t>
            </a:r>
            <a:endParaRPr lang="ar-EG" b="1" dirty="0"/>
          </a:p>
          <a:p>
            <a:pPr algn="l"/>
            <a:endParaRPr lang="en-US" b="1" dirty="0"/>
          </a:p>
          <a:p>
            <a:pPr algn="l"/>
            <a:r>
              <a:rPr lang="en-US" b="1" dirty="0"/>
              <a:t>Remove punctuation</a:t>
            </a:r>
            <a:endParaRPr lang="ar-EG" b="1" dirty="0"/>
          </a:p>
          <a:p>
            <a:pPr algn="l"/>
            <a:endParaRPr lang="ar-EG" b="1" dirty="0"/>
          </a:p>
          <a:p>
            <a:pPr algn="l"/>
            <a:r>
              <a:rPr lang="en-US" b="1" dirty="0"/>
              <a:t>Tokenization (split text into words)</a:t>
            </a:r>
            <a:endParaRPr lang="ar-EG" b="1" dirty="0"/>
          </a:p>
          <a:p>
            <a:pPr algn="l"/>
            <a:endParaRPr lang="en-US" b="1" dirty="0"/>
          </a:p>
          <a:p>
            <a:pPr algn="l"/>
            <a:r>
              <a:rPr lang="en-US" b="1" dirty="0"/>
              <a:t>Remove </a:t>
            </a:r>
            <a:r>
              <a:rPr lang="en-US" b="1" dirty="0" err="1"/>
              <a:t>stopwords</a:t>
            </a:r>
            <a:endParaRPr lang="ar-EG" b="1" dirty="0"/>
          </a:p>
          <a:p>
            <a:pPr algn="l"/>
            <a:endParaRPr lang="en-US" b="1" dirty="0"/>
          </a:p>
          <a:p>
            <a:pPr algn="l"/>
            <a:r>
              <a:rPr lang="en-US" b="1" dirty="0"/>
              <a:t>Lemmatization (convert words to base form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056048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08B72-6B82-5267-CFDA-587AA7E8C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521" y="1014602"/>
            <a:ext cx="3865134" cy="1735667"/>
          </a:xfrm>
        </p:spPr>
        <p:txBody>
          <a:bodyPr>
            <a:normAutofit/>
          </a:bodyPr>
          <a:lstStyle/>
          <a:p>
            <a:r>
              <a:rPr lang="en-US" dirty="0"/>
              <a:t>Feature Extraction:</a:t>
            </a:r>
            <a:endParaRPr lang="ar-EG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D06532E-32C4-1EC3-6438-D9597549C3D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54" r="54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62891-3246-1187-E799-0A0EDE61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18904" y="2922309"/>
            <a:ext cx="3624436" cy="2611225"/>
          </a:xfrm>
        </p:spPr>
        <p:txBody>
          <a:bodyPr/>
          <a:lstStyle/>
          <a:p>
            <a:pPr algn="l"/>
            <a:r>
              <a:rPr lang="en-US" dirty="0"/>
              <a:t>TF-IDF Vectorization:</a:t>
            </a:r>
          </a:p>
          <a:p>
            <a:pPr algn="l"/>
            <a:r>
              <a:rPr lang="en-US" dirty="0"/>
              <a:t>Converts text into numerical values</a:t>
            </a:r>
          </a:p>
          <a:p>
            <a:pPr algn="l"/>
            <a:r>
              <a:rPr lang="en-US" dirty="0"/>
              <a:t>Measures importance of words in each comment</a:t>
            </a:r>
          </a:p>
          <a:p>
            <a:pPr algn="l"/>
            <a:r>
              <a:rPr lang="en-US" dirty="0"/>
              <a:t>Used as input for Machine Learning models</a:t>
            </a:r>
            <a:endParaRPr lang="ar-E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078EB-B501-0809-A77D-07558BA2C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574" y="1564849"/>
            <a:ext cx="5725173" cy="357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591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F7FE7-45CA-E417-4E9C-365E2F8AF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049" y="838200"/>
            <a:ext cx="8394399" cy="842432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Machine Learning Models Used:</a:t>
            </a:r>
            <a:endParaRPr lang="ar-E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DC4D1-9069-0E9B-7183-4F28F875A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5086" y="2809187"/>
            <a:ext cx="8884592" cy="3535051"/>
          </a:xfrm>
        </p:spPr>
        <p:txBody>
          <a:bodyPr>
            <a:normAutofit/>
          </a:bodyPr>
          <a:lstStyle/>
          <a:p>
            <a:pPr marL="457200" lvl="1" indent="0" algn="r">
              <a:buNone/>
            </a:pPr>
            <a:r>
              <a:rPr lang="en-US" sz="2000" b="1" dirty="0"/>
              <a:t>We trained and compared multiple models:                                       </a:t>
            </a:r>
          </a:p>
          <a:p>
            <a:pPr lvl="1" algn="l" rtl="0"/>
            <a:r>
              <a:rPr lang="en-US" sz="2000" dirty="0"/>
              <a:t>Logistic Regression</a:t>
            </a:r>
          </a:p>
          <a:p>
            <a:pPr lvl="1" algn="l" rtl="0"/>
            <a:r>
              <a:rPr lang="en-US" sz="2000" dirty="0"/>
              <a:t>Naive Bayes</a:t>
            </a:r>
          </a:p>
          <a:p>
            <a:pPr lvl="1" algn="l" rtl="0"/>
            <a:r>
              <a:rPr lang="en-US" sz="2000" dirty="0"/>
              <a:t>Decision Tree</a:t>
            </a:r>
          </a:p>
          <a:p>
            <a:pPr lvl="1" algn="l" rtl="0"/>
            <a:r>
              <a:rPr lang="en-US" sz="2000" dirty="0"/>
              <a:t>Support Vector Machine (SVM)</a:t>
            </a:r>
          </a:p>
        </p:txBody>
      </p:sp>
    </p:spTree>
    <p:extLst>
      <p:ext uri="{BB962C8B-B14F-4D97-AF65-F5344CB8AC3E}">
        <p14:creationId xmlns:p14="http://schemas.microsoft.com/office/powerpoint/2010/main" val="3078264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8F0E-79C9-06BA-CBAD-81111A8A9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849" y="2387554"/>
            <a:ext cx="4351025" cy="1894356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Logistic Regression:</a:t>
            </a:r>
            <a:br>
              <a:rPr lang="en-US" dirty="0">
                <a:latin typeface="Arial Black" panose="020B0A04020102020204" pitchFamily="34" charset="0"/>
              </a:rPr>
            </a:br>
            <a:endParaRPr lang="ar-EG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84335-C7AB-1034-9F97-B484A8F70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6152" y="2253006"/>
            <a:ext cx="5062193" cy="3506771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What is Logistic Regression:</a:t>
            </a:r>
          </a:p>
          <a:p>
            <a:pPr algn="ctr"/>
            <a:endParaRPr lang="en-US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 Logistic Regression is a supervised machine learning algorithm.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It is mainly used for classification problem  </a:t>
            </a:r>
          </a:p>
          <a:p>
            <a:pPr algn="ctr"/>
            <a:endParaRPr lang="en-US" dirty="0"/>
          </a:p>
          <a:p>
            <a:pPr algn="ctr"/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859445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C4434-0A6B-1050-8DFB-96AD8DDD9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067" y="881236"/>
            <a:ext cx="10303497" cy="772998"/>
          </a:xfrm>
        </p:spPr>
        <p:txBody>
          <a:bodyPr/>
          <a:lstStyle/>
          <a:p>
            <a:r>
              <a:rPr lang="en-US" dirty="0"/>
              <a:t>The code for Logistic Regression to calculate the accuracy  of the model in Dataset:</a:t>
            </a:r>
            <a:endParaRPr lang="ar-E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4C9E62-9735-F2D2-3D02-C8D1ECC62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8267" y="2646535"/>
            <a:ext cx="8955464" cy="33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46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32B56-93D8-5C55-5851-DF624BF6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Logistic Regression:</a:t>
            </a:r>
            <a:endParaRPr lang="ar-EG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C281B-7EE2-6C8F-D5CD-7E5C59091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74277" y="3327662"/>
            <a:ext cx="8643508" cy="3176833"/>
          </a:xfrm>
        </p:spPr>
        <p:txBody>
          <a:bodyPr>
            <a:normAutofit/>
          </a:bodyPr>
          <a:lstStyle/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Logistic Regression Accuracy : 0.876</a:t>
            </a:r>
          </a:p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means</a:t>
            </a:r>
            <a:r>
              <a:rPr lang="en-US" b="1" dirty="0"/>
              <a:t>  :</a:t>
            </a:r>
          </a:p>
          <a:p>
            <a:pPr algn="l"/>
            <a:r>
              <a:rPr lang="en-US" dirty="0"/>
              <a:t>        The model achieved only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87.6 %</a:t>
            </a:r>
            <a:r>
              <a:rPr lang="en-US" dirty="0"/>
              <a:t> accuracy.</a:t>
            </a:r>
            <a:r>
              <a:rPr lang="ar-EG" dirty="0"/>
              <a:t>   </a:t>
            </a:r>
            <a:endParaRPr lang="en-US" dirty="0"/>
          </a:p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That is to say:</a:t>
            </a:r>
          </a:p>
          <a:p>
            <a:pPr algn="l"/>
            <a:r>
              <a:rPr lang="en-US" dirty="0"/>
              <a:t>        The model correctly predicts in only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87.6%</a:t>
            </a:r>
            <a:r>
              <a:rPr lang="en-US" dirty="0"/>
              <a:t> of cases.</a:t>
            </a:r>
          </a:p>
          <a:p>
            <a:pPr algn="l"/>
            <a:r>
              <a:rPr lang="en-US" dirty="0"/>
              <a:t>         And it incorrectly predicts in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12.4%</a:t>
            </a:r>
            <a:r>
              <a:rPr lang="en-US" dirty="0"/>
              <a:t> of cases.</a:t>
            </a:r>
          </a:p>
          <a:p>
            <a:pPr algn="l"/>
            <a:endParaRPr lang="en-US" dirty="0"/>
          </a:p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“This means the model is high for our Dataset.”</a:t>
            </a:r>
            <a:endParaRPr lang="ar-EG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463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55D08-340A-C3B2-13D0-784998C61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686" y="2234153"/>
            <a:ext cx="3944947" cy="2623621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Naive Bayes:</a:t>
            </a:r>
            <a:endParaRPr lang="ar-EG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126FF-0F42-FCCA-E0A6-E61E472D9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5324" y="970960"/>
            <a:ext cx="5468361" cy="4986779"/>
          </a:xfrm>
        </p:spPr>
        <p:txBody>
          <a:bodyPr>
            <a:normAutofit/>
          </a:bodyPr>
          <a:lstStyle/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Naive Bayes is a probabilistic machine learning algorithm.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It is widely used in text classification and sentiment analysis.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It works well with TF-IDF and Bag of Words features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It is fast, simple, and gives good results for text data.</a:t>
            </a:r>
            <a:endParaRPr lang="ar-EG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295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1D49-F269-100A-924E-CF8ABFC0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266" y="678730"/>
            <a:ext cx="10718277" cy="1093509"/>
          </a:xfrm>
        </p:spPr>
        <p:txBody>
          <a:bodyPr/>
          <a:lstStyle/>
          <a:p>
            <a:r>
              <a:rPr lang="en-US" dirty="0"/>
              <a:t>The code for Naive Bayes to calculate the accuracy  of the model in Dataset:</a:t>
            </a:r>
            <a:endParaRPr lang="ar-E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16CC9F-F78E-791D-2602-4FD85272D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1666" y="2622353"/>
            <a:ext cx="8182465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39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CDDDF-7903-A1B6-24A4-1C1D65496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Naive Bayes:</a:t>
            </a:r>
            <a:endParaRPr lang="ar-EG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1C67F-E750-4D53-824F-7A93EB16D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80092" y="3370082"/>
            <a:ext cx="8831815" cy="3487918"/>
          </a:xfrm>
        </p:spPr>
        <p:txBody>
          <a:bodyPr>
            <a:normAutofit/>
          </a:bodyPr>
          <a:lstStyle/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Naive Bayes Accuracy : 0.575</a:t>
            </a:r>
          </a:p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means</a:t>
            </a:r>
            <a:r>
              <a:rPr lang="en-US" b="1" dirty="0"/>
              <a:t>  :</a:t>
            </a:r>
          </a:p>
          <a:p>
            <a:pPr algn="l"/>
            <a:r>
              <a:rPr lang="en-US" dirty="0"/>
              <a:t>        The model achieved only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57.5 %</a:t>
            </a:r>
            <a:r>
              <a:rPr lang="en-US" dirty="0"/>
              <a:t> accuracy.</a:t>
            </a:r>
            <a:r>
              <a:rPr lang="ar-EG" dirty="0"/>
              <a:t>   </a:t>
            </a:r>
            <a:endParaRPr lang="en-US" dirty="0"/>
          </a:p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That is to say:</a:t>
            </a:r>
          </a:p>
          <a:p>
            <a:pPr algn="l"/>
            <a:r>
              <a:rPr lang="en-US" dirty="0"/>
              <a:t>        The model correctly predicts in only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57.5%</a:t>
            </a:r>
            <a:r>
              <a:rPr lang="en-US" dirty="0"/>
              <a:t> of cases.</a:t>
            </a:r>
          </a:p>
          <a:p>
            <a:pPr algn="l"/>
            <a:r>
              <a:rPr lang="en-US" dirty="0"/>
              <a:t>         And it incorrectly predicts in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43.5%</a:t>
            </a:r>
            <a:r>
              <a:rPr lang="en-US" dirty="0"/>
              <a:t> of cases.</a:t>
            </a:r>
          </a:p>
          <a:p>
            <a:pPr algn="l"/>
            <a:endParaRPr lang="en-US" dirty="0"/>
          </a:p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“This means the model is good for our Dataset.”</a:t>
            </a:r>
            <a:endParaRPr lang="ar-EG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667826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0F63E-691A-4025-3D63-FE7D1FAB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97" y="1385740"/>
            <a:ext cx="3967083" cy="345318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Decision Tree:</a:t>
            </a:r>
            <a:endParaRPr lang="ar-EG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6C7BB-B5C1-B3A5-6582-BEE72F5C7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09847" y="1385740"/>
            <a:ext cx="4751926" cy="4242061"/>
          </a:xfrm>
        </p:spPr>
        <p:txBody>
          <a:bodyPr/>
          <a:lstStyle/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Decision Tree is a supervised machine learning algorithm.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It works by splitting data into branches based on feature values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It is easy to understand and visualize.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In this project, it was used to classify sentiment into positive, negative, or neutral.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082687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7C0FB-C268-F620-CE98-AD5B30DE5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07" y="479980"/>
            <a:ext cx="10576243" cy="1425935"/>
          </a:xfrm>
        </p:spPr>
        <p:txBody>
          <a:bodyPr/>
          <a:lstStyle/>
          <a:p>
            <a:r>
              <a:rPr lang="en-US" dirty="0"/>
              <a:t>The code for Decision Tree to calculate the accuracy  of the model in Dataset:</a:t>
            </a:r>
            <a:endParaRPr lang="ar-E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8023F7-4142-81C0-23A3-91CB253BF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1983" y="2680432"/>
            <a:ext cx="8748074" cy="333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10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81F7-E4AC-489F-4FE9-438233868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Decision Tree:</a:t>
            </a:r>
            <a:endParaRPr lang="ar-E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A66E7-F9B6-195A-77F1-B5D0AB346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3429000"/>
            <a:ext cx="9478481" cy="3169762"/>
          </a:xfrm>
        </p:spPr>
        <p:txBody>
          <a:bodyPr>
            <a:normAutofit lnSpcReduction="10000"/>
          </a:bodyPr>
          <a:lstStyle/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Decision Tree Accuracy : 0.805</a:t>
            </a:r>
          </a:p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means</a:t>
            </a:r>
            <a:r>
              <a:rPr lang="en-US" b="1" dirty="0"/>
              <a:t>  :</a:t>
            </a:r>
          </a:p>
          <a:p>
            <a:pPr algn="l"/>
            <a:r>
              <a:rPr lang="en-US" dirty="0"/>
              <a:t>        The model achieved only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80.5%</a:t>
            </a:r>
            <a:r>
              <a:rPr lang="en-US" dirty="0"/>
              <a:t> accuracy.</a:t>
            </a:r>
            <a:r>
              <a:rPr lang="ar-EG" dirty="0"/>
              <a:t>   </a:t>
            </a:r>
            <a:endParaRPr lang="en-US" dirty="0"/>
          </a:p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That is to say:</a:t>
            </a:r>
          </a:p>
          <a:p>
            <a:pPr algn="l"/>
            <a:r>
              <a:rPr lang="en-US" dirty="0"/>
              <a:t>        The model correctly predicts in only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80.5%</a:t>
            </a:r>
            <a:r>
              <a:rPr lang="en-US" dirty="0"/>
              <a:t> of cases.</a:t>
            </a:r>
          </a:p>
          <a:p>
            <a:pPr algn="l"/>
            <a:r>
              <a:rPr lang="en-US" dirty="0"/>
              <a:t>         And it incorrectly predicts in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19.5%</a:t>
            </a:r>
            <a:r>
              <a:rPr lang="en-US" dirty="0"/>
              <a:t> of cases.</a:t>
            </a:r>
          </a:p>
          <a:p>
            <a:pPr algn="l"/>
            <a:endParaRPr lang="en-US" dirty="0"/>
          </a:p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“This means the model is high for our Dataset.”</a:t>
            </a:r>
            <a:endParaRPr lang="ar-EG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378618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800A3-73E2-8FE2-F619-C81CAFCE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79" y="2287087"/>
            <a:ext cx="5157187" cy="2283825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Support Vector Machine (SVM):</a:t>
            </a:r>
            <a:endParaRPr lang="ar-EG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DCF06-D378-71E4-E816-1255FD52A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3030" y="339364"/>
            <a:ext cx="5355241" cy="6014301"/>
          </a:xfrm>
        </p:spPr>
        <p:txBody>
          <a:bodyPr/>
          <a:lstStyle/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SVM is a supervised machine learning algorithm used for classification.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It works by finding the best separating boundary between different classes.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SVM performs very well with text data and high-dimensional features like TF-IDF.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In this project, SVM achieved the highest accuracy.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240703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9A829-2C49-5FE3-C9EC-F54A033AC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117" y="292232"/>
            <a:ext cx="10228083" cy="1828800"/>
          </a:xfrm>
        </p:spPr>
        <p:txBody>
          <a:bodyPr/>
          <a:lstStyle/>
          <a:p>
            <a:r>
              <a:rPr lang="en-US" dirty="0"/>
              <a:t>The code for  SVM to calculate the accuracy  of the model in Dataset:</a:t>
            </a:r>
            <a:endParaRPr lang="ar-E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21CCEE-8B96-4D02-19A2-023807F38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104" y="2422689"/>
            <a:ext cx="8719792" cy="427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36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D320D-C6C7-BAA9-186F-DB1954E36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776" y="1186992"/>
            <a:ext cx="9349018" cy="1126077"/>
          </a:xfrm>
        </p:spPr>
        <p:txBody>
          <a:bodyPr/>
          <a:lstStyle/>
          <a:p>
            <a:r>
              <a:rPr lang="en-US" dirty="0"/>
              <a:t>Support Vector Machine (SVM):</a:t>
            </a:r>
            <a:endParaRPr lang="ar-E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52025-47B4-2831-234F-E27929B45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1984" y="3289955"/>
            <a:ext cx="8717421" cy="3410145"/>
          </a:xfrm>
        </p:spPr>
        <p:txBody>
          <a:bodyPr>
            <a:normAutofit/>
          </a:bodyPr>
          <a:lstStyle/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SVM Accuracy : 0.889</a:t>
            </a:r>
          </a:p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means</a:t>
            </a:r>
            <a:r>
              <a:rPr lang="en-US" b="1" dirty="0"/>
              <a:t>  :</a:t>
            </a:r>
          </a:p>
          <a:p>
            <a:pPr algn="l"/>
            <a:r>
              <a:rPr lang="en-US" dirty="0"/>
              <a:t>        The model achieved only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89.9%</a:t>
            </a:r>
            <a:r>
              <a:rPr lang="en-US" dirty="0"/>
              <a:t> accuracy.</a:t>
            </a:r>
            <a:r>
              <a:rPr lang="ar-EG" dirty="0"/>
              <a:t>   </a:t>
            </a:r>
            <a:endParaRPr lang="en-US" dirty="0"/>
          </a:p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That is to say:</a:t>
            </a:r>
          </a:p>
          <a:p>
            <a:pPr algn="l"/>
            <a:r>
              <a:rPr lang="en-US" dirty="0"/>
              <a:t>        The model correctly predicts in only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89.9%</a:t>
            </a:r>
            <a:r>
              <a:rPr lang="en-US" dirty="0"/>
              <a:t> of cases.</a:t>
            </a:r>
          </a:p>
          <a:p>
            <a:pPr algn="l"/>
            <a:r>
              <a:rPr lang="en-US" dirty="0"/>
              <a:t>         And it incorrectly predicts in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10.1%</a:t>
            </a:r>
            <a:r>
              <a:rPr lang="en-US" dirty="0"/>
              <a:t> of cases.</a:t>
            </a:r>
          </a:p>
          <a:p>
            <a:pPr algn="l"/>
            <a:endParaRPr lang="en-US" dirty="0"/>
          </a:p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“This means the model is high for our Dataset.”</a:t>
            </a:r>
            <a:endParaRPr lang="ar-EG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823969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1B40-82E0-BB5E-5FFD-A46DADEE6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Confusion Matrix:</a:t>
            </a:r>
            <a:endParaRPr lang="ar-E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7B818-22F4-A8FC-C87A-96D2BFB08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0306" y="4921272"/>
            <a:ext cx="8825659" cy="1366406"/>
          </a:xfrm>
        </p:spPr>
        <p:txBody>
          <a:bodyPr>
            <a:normAutofit/>
          </a:bodyPr>
          <a:lstStyle/>
          <a:p>
            <a:r>
              <a:rPr lang="en-US" dirty="0"/>
              <a:t>Confusion Matrix is used to evaluate classification performance.</a:t>
            </a:r>
          </a:p>
          <a:p>
            <a:r>
              <a:rPr lang="en-US" dirty="0"/>
              <a:t>It compares actual and predicted labels and shows correct and incorrect predictions.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800906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868FD-59FC-0C75-464A-028DAF18B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Confusion Matrix:</a:t>
            </a:r>
            <a:endParaRPr lang="ar-EG" dirty="0"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811359-49BB-FEC4-C200-95A9B5A78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697" y="3301340"/>
            <a:ext cx="9137715" cy="355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87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FCCE0-1577-7079-58DB-BAE169E4F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Arial Black" panose="020B0A04020102020204" pitchFamily="34" charset="0"/>
              </a:rPr>
              <a:t>User Interface (</a:t>
            </a:r>
            <a:r>
              <a:rPr lang="en-US" sz="3600" dirty="0" err="1">
                <a:latin typeface="Arial Black" panose="020B0A04020102020204" pitchFamily="34" charset="0"/>
              </a:rPr>
              <a:t>Gradio</a:t>
            </a:r>
            <a:r>
              <a:rPr lang="en-US" sz="3600" dirty="0">
                <a:latin typeface="Arial Black" panose="020B0A04020102020204" pitchFamily="34" charset="0"/>
              </a:rPr>
              <a:t>):</a:t>
            </a:r>
            <a:endParaRPr lang="ar-EG" sz="3600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BA895-68C4-51FA-67D7-200E61934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lang="en-US" sz="2000" dirty="0"/>
              <a:t>A user-friendly interface was created using </a:t>
            </a:r>
            <a:r>
              <a:rPr lang="en-US" sz="2000" dirty="0" err="1"/>
              <a:t>Gradio</a:t>
            </a:r>
            <a:r>
              <a:rPr lang="en-US" sz="2000" dirty="0"/>
              <a:t>.</a:t>
            </a:r>
          </a:p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lang="en-US" sz="2000" dirty="0"/>
              <a:t>The user can enter any text comment.</a:t>
            </a:r>
          </a:p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lang="en-US" sz="2000" dirty="0"/>
              <a:t>The model predicts the sentiment instantly.</a:t>
            </a:r>
            <a:endParaRPr lang="ar-EG" sz="2000" dirty="0"/>
          </a:p>
        </p:txBody>
      </p:sp>
    </p:spTree>
    <p:extLst>
      <p:ext uri="{BB962C8B-B14F-4D97-AF65-F5344CB8AC3E}">
        <p14:creationId xmlns:p14="http://schemas.microsoft.com/office/powerpoint/2010/main" val="111407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5DE218-DD11-24C8-D936-0D48F5F7D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78" y="603315"/>
            <a:ext cx="10417443" cy="599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0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7ACA6-E989-4350-9D85-080A86A69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4398" y="1606486"/>
            <a:ext cx="8825660" cy="1822514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Conclusion</a:t>
            </a:r>
            <a:endParaRPr lang="ar-EG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96A31-1448-9411-A07C-2485C0EC4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3684" y="4816617"/>
            <a:ext cx="8825659" cy="2041383"/>
          </a:xfrm>
        </p:spPr>
        <p:txBody>
          <a:bodyPr>
            <a:normAutofit/>
          </a:bodyPr>
          <a:lstStyle/>
          <a:p>
            <a:r>
              <a:rPr lang="en-US" dirty="0"/>
              <a:t>Sentiment Analysis helps understand customer opinions</a:t>
            </a:r>
          </a:p>
          <a:p>
            <a:r>
              <a:rPr lang="en-US" dirty="0"/>
              <a:t>Machine Learning provides accurate predictions</a:t>
            </a:r>
          </a:p>
          <a:p>
            <a:r>
              <a:rPr lang="en-US" dirty="0"/>
              <a:t>SVM achieved the best results</a:t>
            </a:r>
          </a:p>
          <a:p>
            <a:r>
              <a:rPr lang="en-US" dirty="0"/>
              <a:t>The project can be extended for real-time applications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469716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7626E-6019-4A52-4D5D-6B8A0CC0B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7325" y="1043583"/>
            <a:ext cx="8825658" cy="2677648"/>
          </a:xfrm>
        </p:spPr>
        <p:txBody>
          <a:bodyPr/>
          <a:lstStyle/>
          <a:p>
            <a:r>
              <a:rPr lang="en-US" dirty="0"/>
              <a:t>Thank you 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969100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47CFC-6856-F694-B32E-1702EE26A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Team:</a:t>
            </a:r>
            <a:endParaRPr lang="ar-EG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967BF-43A8-F352-E286-D4F5B0CB0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2115" y="4779869"/>
            <a:ext cx="7951338" cy="1941443"/>
          </a:xfrm>
        </p:spPr>
        <p:txBody>
          <a:bodyPr/>
          <a:lstStyle/>
          <a:p>
            <a:pPr marL="800100" lvl="1" indent="-342900" algn="l" rtl="0">
              <a:buFont typeface="Wingdings" panose="05000000000000000000" pitchFamily="2" charset="2"/>
              <a:buChar char="Ø"/>
            </a:pPr>
            <a:r>
              <a:rPr lang="en-US" dirty="0"/>
              <a:t>Nada Ebrahim</a:t>
            </a:r>
          </a:p>
          <a:p>
            <a:pPr marL="800100" lvl="1" indent="-342900" algn="l" rtl="0">
              <a:buFont typeface="Wingdings" panose="05000000000000000000" pitchFamily="2" charset="2"/>
              <a:buChar char="Ø"/>
            </a:pPr>
            <a:r>
              <a:rPr lang="en-US" dirty="0"/>
              <a:t>Malak Ebrahim</a:t>
            </a:r>
          </a:p>
          <a:p>
            <a:pPr marL="800100" lvl="1" indent="-342900" algn="l" rtl="0">
              <a:buFont typeface="Wingdings" panose="05000000000000000000" pitchFamily="2" charset="2"/>
              <a:buChar char="Ø"/>
            </a:pPr>
            <a:r>
              <a:rPr lang="en-US" dirty="0"/>
              <a:t>Yasmine Akram </a:t>
            </a:r>
          </a:p>
          <a:p>
            <a:pPr lvl="1" algn="l" rtl="0"/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5525184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2014</TotalTime>
  <Words>691</Words>
  <Application>Microsoft Office PowerPoint</Application>
  <PresentationFormat>Widescreen</PresentationFormat>
  <Paragraphs>112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 Display</vt:lpstr>
      <vt:lpstr>Aptos Narrow</vt:lpstr>
      <vt:lpstr>Arial</vt:lpstr>
      <vt:lpstr>Arial Black</vt:lpstr>
      <vt:lpstr>Bahnschrift Light SemiCondensed</vt:lpstr>
      <vt:lpstr>Century Gothic</vt:lpstr>
      <vt:lpstr>Wingdings</vt:lpstr>
      <vt:lpstr>Wingdings 3</vt:lpstr>
      <vt:lpstr>Ion Boardroom</vt:lpstr>
      <vt:lpstr>Sentment analysis of comment</vt:lpstr>
      <vt:lpstr>Introduction </vt:lpstr>
      <vt:lpstr>Problem statement</vt:lpstr>
      <vt:lpstr>Dataset  </vt:lpstr>
      <vt:lpstr>Data Preprocessing:</vt:lpstr>
      <vt:lpstr>Feature Extraction:</vt:lpstr>
      <vt:lpstr>Machine Learning Models Used:</vt:lpstr>
      <vt:lpstr>Logistic Regression: </vt:lpstr>
      <vt:lpstr>The code for Logistic Regression to calculate the accuracy  of the model in Dataset:</vt:lpstr>
      <vt:lpstr>Logistic Regression:</vt:lpstr>
      <vt:lpstr>Naive Bayes:</vt:lpstr>
      <vt:lpstr>The code for Naive Bayes to calculate the accuracy  of the model in Dataset:</vt:lpstr>
      <vt:lpstr>Naive Bayes:</vt:lpstr>
      <vt:lpstr>Decision Tree:</vt:lpstr>
      <vt:lpstr>The code for Decision Tree to calculate the accuracy  of the model in Dataset:</vt:lpstr>
      <vt:lpstr>Decision Tree:</vt:lpstr>
      <vt:lpstr>Support Vector Machine (SVM):</vt:lpstr>
      <vt:lpstr>The code for  SVM to calculate the accuracy  of the model in Dataset:</vt:lpstr>
      <vt:lpstr>Support Vector Machine (SVM):</vt:lpstr>
      <vt:lpstr>Confusion Matrix:</vt:lpstr>
      <vt:lpstr>Confusion Matrix:</vt:lpstr>
      <vt:lpstr>User Interface (Gradio):</vt:lpstr>
      <vt:lpstr>PowerPoint Presentation</vt:lpstr>
      <vt:lpstr>Conclusion</vt:lpstr>
      <vt:lpstr>Thank you </vt:lpstr>
      <vt:lpstr>Team: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malak ebrhim</dc:creator>
  <cp:lastModifiedBy>malak ebrhim</cp:lastModifiedBy>
  <cp:revision>1</cp:revision>
  <dcterms:created xsi:type="dcterms:W3CDTF">2025-12-23T14:16:34Z</dcterms:created>
  <dcterms:modified xsi:type="dcterms:W3CDTF">2025-12-24T23:51:00Z</dcterms:modified>
</cp:coreProperties>
</file>